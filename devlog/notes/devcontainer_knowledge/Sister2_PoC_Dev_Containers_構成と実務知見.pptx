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692204"/>
            <a:ext cx="59436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22222"/>
                </a:solidFill>
              </a:rPr>
              <a:t>Sister2 PoC: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22222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22222"/>
                </a:solidFill>
              </a:rPr>
              <a:t>Dev Containers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22222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22222"/>
                </a:solidFill>
              </a:rPr>
              <a:t>構成と実務知見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372380"/>
            <a:ext cx="59436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33A0"/>
                </a:solidFill>
              </a:rPr>
              <a:t>実作業で得た知見の整理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3961740"/>
            <a:ext cx="5943600" cy="308967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2026.01.31 | Development Team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33A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Dev Containers の役割とメリット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55527"/>
            <a:ext cx="42862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開発環境の完全な再現性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730573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チーム全員が同一の OS、ライブラリ、ツール群（Node.js 24 / Python 3.14）で作業可能。環境差異によるバグを排除します。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473523"/>
            <a:ext cx="42862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ローカル環境の汚染防止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2848570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ホストマシンに直接言語ランタイムをインストールせず、コンテナ内で完結。複数のプロジェクト間でのバージョン競合を防ぎます。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591520"/>
            <a:ext cx="42862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オンボーディングの高速化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3966567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devcontainer.json に定義された設定により、VSCode で開くだけで環境構築が完了。初日の「環境構築」を数分に短縮。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355527"/>
            <a:ext cx="3600450" cy="2528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システム構成: monorepo と docker-compose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55527"/>
            <a:ext cx="3571875" cy="2357438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569839"/>
            <a:ext cx="33575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DIRECTORY STRUCTURE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85813" y="1946672"/>
            <a:ext cx="3357563" cy="1400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/ project-root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 ├── frontend/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 ├── backend/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 ├── infra/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 └── docs/</a:t>
            </a:r>
            <a:endParaRPr lang="en-US" sz="1486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55839"/>
            <a:ext cx="1428750" cy="857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3438" y="1355527"/>
            <a:ext cx="392906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サービス分離の徹底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4643438" y="1716286"/>
            <a:ext cx="3929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docker-compose.yml で frontend と backend を個別のサービスとして定義。各サービスに必要な依存関係を分離しつつ、同一ネットワーク内での通信を確保。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643438" y="2616398"/>
            <a:ext cx="392906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開発効率の向上</a:t>
            </a:r>
            <a:endParaRPr lang="en-US" sz="1397" dirty="0"/>
          </a:p>
        </p:txBody>
      </p:sp>
      <p:sp>
        <p:nvSpPr>
          <p:cNvPr id="11" name="Text 7"/>
          <p:cNvSpPr/>
          <p:nvPr/>
        </p:nvSpPr>
        <p:spPr>
          <a:xfrm>
            <a:off x="4643438" y="2977158"/>
            <a:ext cx="3929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monorepo 内の全コードを管理しつつ、必要なサービスだけをコンテナとして立ち上げることが可能。リソースの最適化と開発の柔軟性を両立。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sleep infinity の意図とコンテナの永続化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55527"/>
            <a:ext cx="4572000" cy="1071563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5" name="Shape 2"/>
          <p:cNvSpPr/>
          <p:nvPr/>
        </p:nvSpPr>
        <p:spPr>
          <a:xfrm>
            <a:off x="5072063" y="1355527"/>
            <a:ext cx="71438" cy="1071563"/>
          </a:xfrm>
          <a:prstGeom prst="rect">
            <a:avLst/>
          </a:prstGeom>
          <a:solidFill>
            <a:srgbClr val="FF4F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55527"/>
            <a:ext cx="4572000" cy="1071563"/>
          </a:xfrm>
          <a:prstGeom prst="rect">
            <a:avLst/>
          </a:prstGeom>
          <a:noFill/>
          <a:ln/>
        </p:spPr>
        <p:txBody>
          <a:bodyPr wrap="square" lIns="340233" tIns="25514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services:</a:t>
            </a:r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 app:</a:t>
            </a:r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 command: sleep infinity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3027164"/>
            <a:ext cx="247648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コンテナの維持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3384352"/>
            <a:ext cx="24764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メインプロセス（サーバー等）が起動していない状態でも、コンテナを終了させずに常駐させ続けるための設定です。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333731" y="3027164"/>
            <a:ext cx="247650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アタッチ運用の前提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333731" y="3384352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VSCode Dev Containersがコンテナに接続し、シェル操作やデバッグを行うための安定した「土台」として機能します。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095991" y="3027164"/>
            <a:ext cx="247648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柔軟なプロセス管理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095991" y="3384352"/>
            <a:ext cx="24764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アプリケーションサーバーの起動・停止を、コンテナ自体の再起動なしに自由に行えるため、開発サイクルが高速化します。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マウント挙動: .:/workspace で全体が見える理由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69864"/>
            <a:ext cx="378618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ルートマウントの採用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2273498"/>
            <a:ext cx="378618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プロジェクトのルートディレクトリ（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FF4F00"/>
                </a:solidFill>
              </a:rPr>
              <a:t>.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）をコンテナ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内の 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FF4F00"/>
                </a:solidFill>
              </a:rPr>
              <a:t>/workspace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 に直接マウントしています。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571500" y="2990720"/>
            <a:ext cx="3786188" cy="5715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990720"/>
            <a:ext cx="3786188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- .:/workspace:cached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71500" y="3562220"/>
            <a:ext cx="3786188" cy="717221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これにより、特定のサービスコンテナ内にいながら、monorepo 全体のファイル構造にアクセス可能です。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4786313" y="1769864"/>
            <a:ext cx="378618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全体俯瞰と同期の仕組み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4786313" y="2273498"/>
            <a:ext cx="378618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22222"/>
                </a:solidFill>
              </a:rPr>
              <a:t>全体俯瞰のメリット: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 frontend コンテナでの作業中に、docs/ の仕様書を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確認したり、infra/ の設定を調整したりすることがシ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ームレスに行えます。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786313" y="3493629"/>
            <a:ext cx="378618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22222"/>
                </a:solidFill>
              </a:rPr>
              <a:t>双方向同期: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 ホスト（PC）側での変更も、コンテナ内での変更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も、Bind Mount により即座に双方向へ反映されま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す。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VSCode 操作手順: コンテナへの入り方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641277"/>
            <a:ext cx="2143125" cy="2143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571875" y="1355527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FF4F00"/>
                </a:solidFill>
              </a:rPr>
              <a:t>01</a:t>
            </a:r>
            <a:endParaRPr lang="en-US" sz="2592" dirty="0"/>
          </a:p>
        </p:txBody>
      </p:sp>
      <p:sp>
        <p:nvSpPr>
          <p:cNvPr id="6" name="Text 2"/>
          <p:cNvSpPr/>
          <p:nvPr/>
        </p:nvSpPr>
        <p:spPr>
          <a:xfrm>
            <a:off x="4178480" y="1355527"/>
            <a:ext cx="439402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Reopen in Container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4178480" y="1685925"/>
            <a:ext cx="439402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ホスト側でプロジェクトフォルダを開いた状態で、コマンドパレットから実行。devcontainer.json に基づいてコンテナ環境を立ち上げ、再接続します。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571875" y="2650331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FF4F00"/>
                </a:solidFill>
              </a:rPr>
              <a:t>02</a:t>
            </a:r>
            <a:endParaRPr lang="en-US" sz="2592" dirty="0"/>
          </a:p>
        </p:txBody>
      </p:sp>
      <p:sp>
        <p:nvSpPr>
          <p:cNvPr id="9" name="Text 5"/>
          <p:cNvSpPr/>
          <p:nvPr/>
        </p:nvSpPr>
        <p:spPr>
          <a:xfrm>
            <a:off x="4178480" y="2650331"/>
            <a:ext cx="439402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Open Folder in Container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4178480" y="2980730"/>
            <a:ext cx="43940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コンテナが既に起動している場合、コンテナ内の絶対パス（例: /workspace）を直接指定して開きます。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571875" y="3730823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FF4F00"/>
                </a:solidFill>
              </a:rPr>
              <a:t>03</a:t>
            </a:r>
            <a:endParaRPr lang="en-US" sz="2592" dirty="0"/>
          </a:p>
        </p:txBody>
      </p:sp>
      <p:sp>
        <p:nvSpPr>
          <p:cNvPr id="12" name="Text 8"/>
          <p:cNvSpPr/>
          <p:nvPr/>
        </p:nvSpPr>
        <p:spPr>
          <a:xfrm>
            <a:off x="4178480" y="3730823"/>
            <a:ext cx="439402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推奨フロー</a:t>
            </a:r>
            <a:endParaRPr lang="en-US" sz="1397" dirty="0"/>
          </a:p>
        </p:txBody>
      </p:sp>
      <p:sp>
        <p:nvSpPr>
          <p:cNvPr id="13" name="Text 9"/>
          <p:cNvSpPr/>
          <p:nvPr/>
        </p:nvSpPr>
        <p:spPr>
          <a:xfrm>
            <a:off x="4178480" y="4077295"/>
            <a:ext cx="439402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初回構築時は「Reopen」を使用し、2回目以降は VSCode の「リモートエクスプローラー」から既存のコンテナを選択して接続するのが最もスムーズです。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注意点: アタッチは「1サービス」が基本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069777"/>
            <a:ext cx="3786188" cy="3914022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355527"/>
            <a:ext cx="3214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410" dirty="0">
                <a:solidFill>
                  <a:srgbClr val="FF4F00"/>
                </a:solidFill>
              </a:rPr>
              <a:t>1</a:t>
            </a:r>
            <a:pPr algn="l" indent="0" marL="0">
              <a:lnSpc>
                <a:spcPts val="4500"/>
              </a:lnSpc>
              <a:buNone/>
            </a:pPr>
            <a:r>
              <a:rPr lang="en-US" sz="4410" dirty="0">
                <a:solidFill>
                  <a:srgbClr val="FF4F00"/>
                </a:solidFill>
              </a:rPr>
              <a:t>
</a:t>
            </a:r>
            <a:pPr algn="l" indent="0" marL="0">
              <a:lnSpc>
                <a:spcPts val="4500"/>
              </a:lnSpc>
              <a:buNone/>
            </a:pPr>
            <a:r>
              <a:rPr lang="en-US" sz="4410" dirty="0">
                <a:solidFill>
                  <a:srgbClr val="FF4F00"/>
                </a:solidFill>
              </a:rPr>
              <a:t>SERVICE</a:t>
            </a:r>
            <a:endParaRPr lang="en-US" sz="4410" dirty="0"/>
          </a:p>
        </p:txBody>
      </p:sp>
      <p:sp>
        <p:nvSpPr>
          <p:cNvPr id="6" name="Text 3"/>
          <p:cNvSpPr/>
          <p:nvPr/>
        </p:nvSpPr>
        <p:spPr>
          <a:xfrm>
            <a:off x="857250" y="2641402"/>
            <a:ext cx="3214688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VSCode の制約: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1ウィンドウにつき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1コンテナのみ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786313" y="1069777"/>
            <a:ext cx="42862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作業の切り替え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786313" y="1444823"/>
            <a:ext cx="428625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backend のデバッグや言語固有の機能（IntelliSense等）が必要な場合は、backend サービス用の Dev Container に入り直す必要があります。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4786313" y="2542087"/>
            <a:ext cx="42862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リソース管理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4786313" y="2917134"/>
            <a:ext cx="42862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複数のコンテナを同時に立ち上げる（マルチウィンドウ運用）場合は、ホストマシンのメモリ消費に注意が必要です。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4786313" y="3762942"/>
            <a:ext cx="42862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推奨運用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4786313" y="4137989"/>
            <a:ext cx="42862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222222"/>
                </a:solidFill>
              </a:rPr>
              <a:t>基本は frontend コンテナで全体を俯瞰し、重いバックエンド開発時のみ切り替える運用が効率的です。</a:t>
            </a:r>
            <a:endParaRPr lang="en-US" sz="115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よくある質問 (FAQ) - その1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98402"/>
            <a:ext cx="3714750" cy="1071563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712714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QUESTION 01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85813" y="2018109"/>
            <a:ext cx="328612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「/workspace はどこにある？」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85813" y="2712839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ANSWER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85813" y="3018234"/>
            <a:ext cx="3286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コンテナ内のルート直下にあります。ホスト側のプロジェクトルートがそのまま投影されており、monorepo 全体のファイルにアクセス可能です。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29250" y="1498402"/>
            <a:ext cx="3714750" cy="1071563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0" name="Text 7"/>
          <p:cNvSpPr/>
          <p:nvPr/>
        </p:nvSpPr>
        <p:spPr>
          <a:xfrm>
            <a:off x="5643563" y="1712714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QUESTION 02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643563" y="2018109"/>
            <a:ext cx="328612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「front コンテナで back のコードを編集したら反映される？」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643563" y="2712839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ANSWER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643563" y="3018234"/>
            <a:ext cx="3286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はい。マウントによりファイル自体は変更されます。ただし、backend のサーバープロセスは別コンテナで動いているため、ホットリロード等は機能しません。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よくある質問 (FAQ) - その2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98402"/>
            <a:ext cx="3714750" cy="1071563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712714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QUESTION 03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85813" y="2018109"/>
            <a:ext cx="328612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「Node.js や Python のバージョン管理は？」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85813" y="2712839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ANSWER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85813" y="3018234"/>
            <a:ext cx="3286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devcontainer.json の features プロパティで Node.js 24 と Python 3.14 を導入しており、自動でパスが通ります。Dockerfile を汚さず管理可能です。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29250" y="1498402"/>
            <a:ext cx="3714750" cy="1071563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0" name="Text 7"/>
          <p:cNvSpPr/>
          <p:nvPr/>
        </p:nvSpPr>
        <p:spPr>
          <a:xfrm>
            <a:off x="5643563" y="1712714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QUESTION 04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643563" y="2018109"/>
            <a:ext cx="328612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「拡張機能が動かない」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643563" y="2712839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ANSWER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643563" y="3018234"/>
            <a:ext cx="3286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拡張機能はコンテナごとにインストールが必要です。devcontainer.json の customizations.vscode.extensions に記述することで、環境構築時に自動インストールされます。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やったこと（実作業のまとめ）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569839"/>
            <a:ext cx="181562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環境定義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934170"/>
            <a:ext cx="1815629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devcontainer.json と docker-compose.yml を密に連携。frontend/backend のマルチサービス構成を monorepo 内で最適化しました。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672879" y="1569839"/>
            <a:ext cx="181565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ツール導入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672879" y="1934170"/>
            <a:ext cx="1815657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Dev Container Features を活用。Node.js 24 や Python 3.14 などの最新ランタイムを、Dockerfile 記述なしで即座に導入。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774285" y="1569839"/>
            <a:ext cx="181565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マウント設計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774285" y="1934170"/>
            <a:ext cx="1815657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monorepo 全体を見渡せるよう、ルートディレクトリを /workspace に固定。サービスを跨いだコード参照を容易にしました。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271" y="1355527"/>
            <a:ext cx="1485900" cy="1485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49002" y="2984302"/>
            <a:ext cx="1664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033A0"/>
                </a:solidFill>
              </a:rPr>
              <a:t>Environment Defined</a:t>
            </a:r>
            <a:endParaRPr lang="en-US" sz="7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気づき（実務上の発見）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25228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330648"/>
            <a:ext cx="247648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分離の重要性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71500" y="2713537"/>
            <a:ext cx="247648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frontend と backend を個別のコンテナに分けることで、Node.js と Python の依存関係の衝突を完全に回避できました。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31" y="1825228"/>
            <a:ext cx="357188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33731" y="2330648"/>
            <a:ext cx="247650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sleep infinity</a:t>
            </a: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の利便性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3333731" y="2953550"/>
            <a:ext cx="24765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開発中にサーバーがクラッシュしてもコンテナ自体は落ちないため、即座に再起動やログ調査が可能になり、復旧が早まりました。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1" y="1825228"/>
            <a:ext cx="357188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5991" y="2330648"/>
            <a:ext cx="247648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VSCode の</a:t>
            </a: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A0"/>
                </a:solidFill>
              </a:rPr>
              <a:t>高い親和性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6095991" y="2953550"/>
            <a:ext cx="247648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Dev Containers 拡張機能により、コンテナ内であることを意識させない、ローカルと遜色ない操作感で開発に集中できました。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注意点（トラブル回避のために）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69864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01. Switching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146697"/>
            <a:ext cx="247648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22222"/>
                </a:solidFill>
              </a:rPr>
              <a:t>コンテナの切り替え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71500" y="2493866"/>
            <a:ext cx="247648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サービスを跨ぐ作業（API定義変更とフロント実装など）では、VSCodeウィンドウの切り替えが発生します。これを前提としたワークフローを構築してください。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333731" y="1769864"/>
            <a:ext cx="24765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02. Cache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3333731" y="2146697"/>
            <a:ext cx="247650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22222"/>
                </a:solidFill>
              </a:rPr>
              <a:t>ビルドキャッシュ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3333731" y="2493866"/>
            <a:ext cx="24765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Dockerイメージのビルド時にキャッシュが効きすぎ、設定変更が反映されないことがあります。構成変更時は「Rebuild Container」を推奨します。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095991" y="1769864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03. Permissions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095991" y="2146697"/>
            <a:ext cx="247648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22222"/>
                </a:solidFill>
              </a:rPr>
              <a:t>パーミッション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6095991" y="2493866"/>
            <a:ext cx="247648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Linux環境ではマウントしたファイルの権限に注意が必要です。基本はVSCodeが適切に処理しますが、手動でのchmodが必要なケースも稀にあります。</a:t>
            </a:r>
            <a:endParaRPr lang="en-US" sz="94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A0"/>
                </a:solidFill>
              </a:rPr>
              <a:t>まとめと今後の展望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98402"/>
            <a:ext cx="3571875" cy="2428875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784152"/>
            <a:ext cx="3000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ACHIEVEMENT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857250" y="2268141"/>
            <a:ext cx="3000375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Sister2 PoC の標準環境として、Dev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Containers を導入。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 「誰でも・すぐに・同じ環境で」開発を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スタートできる基盤を確立しました。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143375" y="1498402"/>
            <a:ext cx="142875" cy="2428875"/>
          </a:xfrm>
          <a:prstGeom prst="rect">
            <a:avLst/>
          </a:prstGeom>
          <a:solidFill>
            <a:srgbClr val="FF4F00"/>
          </a:solidFill>
          <a:ln/>
        </p:spPr>
      </p:sp>
      <p:sp>
        <p:nvSpPr>
          <p:cNvPr id="8" name="Text 5"/>
          <p:cNvSpPr/>
          <p:nvPr/>
        </p:nvSpPr>
        <p:spPr>
          <a:xfrm>
            <a:off x="4643438" y="1569839"/>
            <a:ext cx="39290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さらなる環境統合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643438" y="1891308"/>
            <a:ext cx="39290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infra/ 周りのツール（Terraform, AWS CLI等）も features に追加し、インフラ作業の再現性も向上させます。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643438" y="2817093"/>
            <a:ext cx="39290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継続的なブラッシュアップ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643438" y="3138562"/>
            <a:ext cx="39290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22222"/>
                </a:solidFill>
              </a:rPr>
              <a:t>チームからのフィードバックを元に、devcontainer.json や拡張機能設定を常に最適化し続けます。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3" name="Text 10"/>
          <p:cNvSpPr/>
          <p:nvPr/>
        </p:nvSpPr>
        <p:spPr>
          <a:xfrm>
            <a:off x="6426919" y="4932759"/>
            <a:ext cx="24313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3" kern="0" dirty="0">
                <a:solidFill>
                  <a:srgbClr val="FFFFFF"/>
                </a:solidFill>
              </a:rPr>
              <a:t>SISTER2 POC DEVELOPMENT TEAM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2026-01-31T10:58:07Z</dcterms:created>
  <dcterms:modified xsi:type="dcterms:W3CDTF">2026-01-31T10:58:07Z</dcterms:modified>
</cp:coreProperties>
</file>